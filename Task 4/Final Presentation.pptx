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Poppins SemiBold" panose="00000700000000000000" pitchFamily="2" charset="0"/>
      <p:regular r:id="rId13"/>
      <p:bold r:id="rId14"/>
      <p:italic r:id="rId15"/>
      <p:boldItalic r:id="rId16"/>
    </p:embeddedFont>
    <p:embeddedFont>
      <p:font typeface="Urbanist" panose="020B0604020202020204" charset="0"/>
      <p:regular r:id="rId17"/>
      <p:bold r:id="rId18"/>
      <p:italic r:id="rId19"/>
      <p:boldItalic r:id="rId20"/>
    </p:embeddedFont>
    <p:embeddedFont>
      <p:font typeface="Urbanist Medium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30304" y="1853654"/>
            <a:ext cx="11131391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E-Commerce Analytics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Performance &amp; Bottleneck Review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795337" y="3907184"/>
            <a:ext cx="1060132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Data-Driven Strategies for Logistics and Revenue Growth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Presented by </a:t>
            </a:r>
            <a:r>
              <a:rPr lang="en-US" sz="1800" dirty="0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Shoaib Akhtar Shaikh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81025" y="581025"/>
            <a:ext cx="554069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Platform Overview</a:t>
            </a:r>
            <a:endParaRPr/>
          </a:p>
        </p:txBody>
      </p:sp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1762125"/>
            <a:ext cx="554069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Summary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2305050"/>
            <a:ext cx="52768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Generated 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R$ 13.59M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 total revenue across 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99.44K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orders in the 2017-2018 operational period.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3105150"/>
            <a:ext cx="52768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Successfully acquired 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96.1K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unique customers, indicating immense market penetration.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3905250"/>
            <a:ext cx="52768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Revenue is heavily concentrated in the Southeast region (São Paulo &amp; Rio de Janeiro).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723900" y="4882948"/>
            <a:ext cx="51339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The Bottleneck: Our logistics network is struggling to efficiently manage this high volume, leading to operational friction.</a:t>
            </a:r>
            <a:endParaRPr dirty="0"/>
          </a:p>
        </p:txBody>
      </p:sp>
      <p:sp>
        <p:nvSpPr>
          <p:cNvPr id="99" name="Google Shape;99;p14"/>
          <p:cNvSpPr/>
          <p:nvPr/>
        </p:nvSpPr>
        <p:spPr>
          <a:xfrm>
            <a:off x="581025" y="4991100"/>
            <a:ext cx="28575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12540"/>
            <a:ext cx="5276850" cy="48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12540"/>
            <a:ext cx="5276850" cy="48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21159" y="4493865"/>
            <a:ext cx="3596580" cy="7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859154" y="1903065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Logistics Crisis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71550" y="2445990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Our dashboard flagged a critical 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7.87% Late Delivery Rate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(approx. 7,827 orders).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971550" y="3198465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ran a Two-Sample T-Test, confirming mathematically that late deliveries cause review scores to crash.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71550" y="5507533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p-value &lt; 0.05 (Statistically Significant)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612255" y="2305050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Satisfaction Drop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724650" y="2847975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severe drop in satisfaction directly damages our brand reputation and customer retention.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70211" y="4779615"/>
            <a:ext cx="2098327" cy="28976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739336" y="4495800"/>
            <a:ext cx="3810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724650" y="3790950"/>
            <a:ext cx="1728936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4.21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724650" y="5105400"/>
            <a:ext cx="17289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On Time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406086" y="3790950"/>
            <a:ext cx="1814363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2.57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406086" y="5105400"/>
            <a:ext cx="18143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Late Delivery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74731" y="45815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98881" y="45815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81025" y="51241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True Cost of Late Deliveries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81150"/>
            <a:ext cx="1102995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1132582" y="4550122"/>
            <a:ext cx="9926835" cy="129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418332" y="4740622"/>
            <a:ext cx="935533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Are we maximizing revenue per transaction?</a:t>
            </a: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Yes. A T-Test confirmed that Credit Card users spend a statistically significant amount more per order than Boleto users. The ability to pay in installments removes price friction for the buyer, leading to larger cart sizes and higher overall revenue.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1132582" y="4550122"/>
            <a:ext cx="38100" cy="129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05064" y="3774578"/>
            <a:ext cx="2581870" cy="28976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Payment Optimization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38325"/>
            <a:ext cx="3422600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4625" y="1838325"/>
            <a:ext cx="3422600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8225" y="1838325"/>
            <a:ext cx="3422600" cy="418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805498" y="3019425"/>
            <a:ext cx="2973652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Audit Freight Carriers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76300" y="3962400"/>
            <a:ext cx="28320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Identify the specific carrier(s) causing the high late delivery rate in the critical Southeast market and penalize or renegotiate their contracts.</a:t>
            </a:r>
            <a:endParaRPr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4609099" y="3019425"/>
            <a:ext cx="2973652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Delist High-Friction Items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679900" y="3962400"/>
            <a:ext cx="28320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Immediately review the top 5 worst-rated products identified on the dashboard and consider delisting them to protect brand reputation.</a:t>
            </a:r>
            <a:endParaRPr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8412699" y="3019425"/>
            <a:ext cx="2973652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Incentivize Credit Cards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483500" y="3962400"/>
            <a:ext cx="28320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Offer small, targeted discounts (e.g., "5% off if you pay with Credit Card") to shift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Boleto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users to Credit Cards, naturally lifting our AOV.</a:t>
            </a:r>
            <a:endParaRPr dirty="0"/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06500" y="22669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38676" y="22669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42276" y="226695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Next Steps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305276" y="2492722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Questions &amp; Discussion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81025" y="3826222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Microsoft Office PowerPoint</Application>
  <PresentationFormat>Widescreen</PresentationFormat>
  <Paragraphs>31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Urbanist</vt:lpstr>
      <vt:lpstr>Arial</vt:lpstr>
      <vt:lpstr>Poppins</vt:lpstr>
      <vt:lpstr>Poppins SemiBold</vt:lpstr>
      <vt:lpstr>Urbanist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Shoaib Shaikh</cp:lastModifiedBy>
  <cp:revision>1</cp:revision>
  <dcterms:modified xsi:type="dcterms:W3CDTF">2026-03-30T18:23:28Z</dcterms:modified>
</cp:coreProperties>
</file>